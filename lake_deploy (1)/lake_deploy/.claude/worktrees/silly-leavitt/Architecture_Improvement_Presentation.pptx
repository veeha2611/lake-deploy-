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47472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3383280"/>
            <a:ext cx="12188952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8229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Calibri"/>
              </a:rPr>
              <a:t>Data Lake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 i="0">
                <a:solidFill>
                  <a:srgbClr val="BDD7EE"/>
                </a:solidFill>
                <a:latin typeface="Calibri"/>
              </a:rPr>
              <a:t>Improvement Recommendations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514600"/>
            <a:ext cx="10698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C6EFCE"/>
                </a:solidFill>
                <a:latin typeface="Calibri"/>
              </a:rPr>
              <a:t>Current State · Gap Analysis · Future State Architecture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3749039"/>
            <a:ext cx="2286000" cy="118872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3794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C000"/>
                </a:solidFill>
                <a:latin typeface="Calibri"/>
              </a:rPr>
              <a:t>109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  <a:latin typeface="Calibri"/>
              </a:rPr>
              <a:t>Virtual Views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108960" y="3749039"/>
            <a:ext cx="2286000" cy="118872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108960" y="3794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C000"/>
                </a:solidFill>
                <a:latin typeface="Calibri"/>
              </a:rPr>
              <a:t>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0896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  <a:latin typeface="Calibri"/>
              </a:rPr>
              <a:t>Physical Tables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0" y="3749039"/>
            <a:ext cx="2286000" cy="118872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669280" y="3794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C000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  <a:latin typeface="Calibri"/>
              </a:rPr>
              <a:t>Data Sources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3749039"/>
            <a:ext cx="2286000" cy="118872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229600" y="379476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 i="0">
                <a:solidFill>
                  <a:srgbClr val="FFC000"/>
                </a:solidFill>
                <a:latin typeface="Calibri"/>
              </a:rPr>
              <a:t>92%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43891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BDD7EE"/>
                </a:solidFill>
                <a:latin typeface="Calibri"/>
              </a:rPr>
              <a:t>Un-Materialised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63093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OnPoint Insights LLC  |  Lake Deploy Platform  |  2026-02-20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What We Will Cover Today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1143000"/>
            <a:ext cx="502920" cy="5943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1887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117957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Calibri"/>
              </a:rPr>
              <a:t>Current Architecture Overview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145389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Medallion layers, sources, and existing patterns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74320" y="1801368"/>
            <a:ext cx="11640312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320040" y="2011680"/>
            <a:ext cx="502920" cy="594360"/>
          </a:xfrm>
          <a:prstGeom prst="rect">
            <a:avLst/>
          </a:prstGeom>
          <a:solidFill>
            <a:srgbClr val="A42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205740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04825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Calibri"/>
              </a:rPr>
              <a:t>The Scalability Problem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232257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92% virtual views — the core bottleneck at scale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4320" y="2670048"/>
            <a:ext cx="11640312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320040" y="2880360"/>
            <a:ext cx="502920" cy="59436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20040" y="292608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" y="291693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Calibri"/>
              </a:rPr>
              <a:t>9 Improvement Areas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" y="319125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Materialization, orchestration, schema, DQ, multi-tenancy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74320" y="3538728"/>
            <a:ext cx="11640312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20040" y="3749040"/>
            <a:ext cx="502920" cy="594360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79476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" y="378561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Calibri"/>
              </a:rPr>
              <a:t>Future State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" y="405993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Iceberg tables, DAG pipelines, entity spine, unified S3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274320" y="4407408"/>
            <a:ext cx="11640312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20040" y="4617720"/>
            <a:ext cx="502920" cy="594360"/>
          </a:xfrm>
          <a:prstGeom prst="rect">
            <a:avLst/>
          </a:prstGeom>
          <a:solidFill>
            <a:srgbClr val="007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0040" y="466344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" y="465429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Calibri"/>
              </a:rPr>
              <a:t>Implementation Roadmap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60120" y="492861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4 phases: immediate wins → Iceberg → DAG → multi-tenancy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274320" y="5276088"/>
            <a:ext cx="11640312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20040" y="5486400"/>
            <a:ext cx="502920" cy="5943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5532120"/>
            <a:ext cx="502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60120" y="5522976"/>
            <a:ext cx="5029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F497D"/>
                </a:solidFill>
                <a:latin typeface="Calibri"/>
              </a:rPr>
              <a:t>Before &amp; After Comparison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" y="5797296"/>
            <a:ext cx="10515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606060"/>
                </a:solidFill>
                <a:latin typeface="Calibri"/>
              </a:rPr>
              <a:t>Side-by-side current vs future state summary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74320" y="6144768"/>
            <a:ext cx="11640312" cy="0"/>
          </a:xfrm>
          <a:prstGeom prst="line">
            <a:avLst/>
          </a:prstGeom>
          <a:ln w="9525">
            <a:solidFill>
              <a:srgbClr val="E5E5E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Current Architecture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Medallion Pattern: Raw → Curated → SSOT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1828800" cy="68580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430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Gaiia
(GraphQL)</a:t>
            </a:r>
          </a:p>
        </p:txBody>
      </p:sp>
      <p:sp>
        <p:nvSpPr>
          <p:cNvPr id="8" name="Rectangle 7"/>
          <p:cNvSpPr/>
          <p:nvPr/>
        </p:nvSpPr>
        <p:spPr>
          <a:xfrm>
            <a:off x="2258568" y="1143000"/>
            <a:ext cx="1828800" cy="685800"/>
          </a:xfrm>
          <a:prstGeom prst="rect">
            <a:avLst/>
          </a:prstGeom>
          <a:solidFill>
            <a:srgbClr val="007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58568" y="11430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VETRO
(REST API)</a:t>
            </a:r>
          </a:p>
        </p:txBody>
      </p:sp>
      <p:sp>
        <p:nvSpPr>
          <p:cNvPr id="10" name="Rectangle 9"/>
          <p:cNvSpPr/>
          <p:nvPr/>
        </p:nvSpPr>
        <p:spPr>
          <a:xfrm>
            <a:off x="4242816" y="1143000"/>
            <a:ext cx="1828800" cy="685800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242816" y="11430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Platt
(CSV Export)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27064" y="1143000"/>
            <a:ext cx="1828800" cy="6858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27064" y="11430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Intacct
(SOAP/XML)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211312" y="1143000"/>
            <a:ext cx="1828800" cy="6858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11312" y="1143000"/>
            <a:ext cx="1828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Salesforce
(AppFlow)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192024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606060"/>
                </a:solidFill>
                <a:latin typeface="Calibri"/>
              </a:rPr>
              <a:t>↓ Lambda / Glue / AppFlow / SOAP ingest ↓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" y="1371600"/>
            <a:ext cx="11612880" cy="1097280"/>
          </a:xfrm>
          <a:prstGeom prst="rect">
            <a:avLst/>
          </a:prstGeom>
          <a:solidFill>
            <a:srgbClr val="BDD7EE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1480" y="14264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F497D"/>
                </a:solidFill>
                <a:latin typeface="Calibri"/>
              </a:rPr>
              <a:t>RAW LAYER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1773936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S3: JSONL, CSV, ZIP, XML
Glue Crawler → Athena External Tables
Partitioned by plan_id/dt (inconsistent naming)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743200"/>
            <a:ext cx="11612880" cy="1097280"/>
          </a:xfrm>
          <a:prstGeom prst="rect">
            <a:avLst/>
          </a:prstGeom>
          <a:solidFill>
            <a:srgbClr val="F4CCCC"/>
          </a:solidFill>
          <a:ln w="25400">
            <a:solidFill>
              <a:srgbClr val="A42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80" y="27980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4262F"/>
                </a:solidFill>
                <a:latin typeface="Calibri"/>
              </a:rPr>
              <a:t>CURATED LAYER 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11480" y="3145536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109 Virtual Views + 18 Physical Tables
92% VIRTUAL — No physical storage!
JSON extraction re-runs every query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686800" y="2798064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A4262F"/>
                </a:solidFill>
                <a:latin typeface="Calibri"/>
              </a:rPr>
              <a:t>⚠  SCALABILITY RISK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4114800"/>
            <a:ext cx="11612880" cy="1097280"/>
          </a:xfrm>
          <a:prstGeom prst="rect">
            <a:avLst/>
          </a:prstGeom>
          <a:solidFill>
            <a:srgbClr val="C6EFCE"/>
          </a:solidFill>
          <a:ln w="25400">
            <a:solidFill>
              <a:srgbClr val="1A7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80" y="4169664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A40"/>
                </a:solidFill>
                <a:latin typeface="Calibri"/>
              </a:rPr>
              <a:t>SSOT LAYER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4517136"/>
            <a:ext cx="1115568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8 xwalk + 8 dim EXTERNAL Parquet tables
Views for current-state + exceptions
Evidence-backed certification (QID + SQL proof)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" y="2212848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606060"/>
                </a:solidFill>
                <a:latin typeface="Calibri"/>
              </a:rPr>
              <a:t>↓ ↓ ↓ arrow down through layers ↓ ↓ ↓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A42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The Core Problem: 92% Virtual Views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Every Dashboard Query Scans Raw S3 — Every Time</a:t>
            </a:r>
          </a:p>
        </p:txBody>
      </p:sp>
      <p:sp>
        <p:nvSpPr>
          <p:cNvPr id="6" name="Rectangle 5"/>
          <p:cNvSpPr/>
          <p:nvPr/>
        </p:nvSpPr>
        <p:spPr>
          <a:xfrm>
            <a:off x="274320" y="1143000"/>
            <a:ext cx="3200400" cy="2011680"/>
          </a:xfrm>
          <a:prstGeom prst="rect">
            <a:avLst/>
          </a:prstGeom>
          <a:solidFill>
            <a:srgbClr val="3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188720"/>
            <a:ext cx="3200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 i="0">
                <a:solidFill>
                  <a:srgbClr val="FFC000"/>
                </a:solidFill>
                <a:latin typeface="Calibri"/>
              </a:rPr>
              <a:t>92%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228600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FFFFFF"/>
                </a:solidFill>
                <a:latin typeface="Calibri"/>
              </a:rPr>
              <a:t>of curated layer
is VIRTUAL — no storage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0" y="1143000"/>
            <a:ext cx="8229600" cy="2011680"/>
          </a:xfrm>
          <a:prstGeom prst="rect">
            <a:avLst/>
          </a:prstGeom>
          <a:solidFill>
            <a:srgbClr val="2A2A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749039" y="1170432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000"/>
                </a:solidFill>
                <a:latin typeface="Calibri"/>
              </a:rPr>
              <a:t>Every Dashboard Query Executes This Chain: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749039" y="1508760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FFFFF"/>
                </a:solidFill>
                <a:latin typeface="Courier New"/>
              </a:rPr>
              <a:t>Dashboard tile calls  gaiia_subscriptions_services_current  (VIEW)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49039" y="1810512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4CCCC"/>
                </a:solidFill>
                <a:latin typeface="Courier New"/>
              </a:rPr>
              <a:t>  → gaiia_billing_subscriptions_current (VIEW)  ← full raw JSONL 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49039" y="2112264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4CCCC"/>
                </a:solidFill>
                <a:latin typeface="Courier New"/>
              </a:rPr>
              <a:t>  → gaiia_products_current              (VIEW)  ← full raw JSONL scan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49039" y="2414016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4CCCC"/>
                </a:solidFill>
                <a:latin typeface="Courier New"/>
              </a:rPr>
              <a:t>       → json_parse() + UNNEST + ROW_NUMBER()  ← CPU-intensive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49039" y="2715768"/>
            <a:ext cx="8046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F4CCCC"/>
                </a:solidFill>
                <a:latin typeface="Courier New"/>
              </a:rPr>
              <a:t>           → 5 concurrent users = 5× parallel full S3 scans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74320" y="3383280"/>
            <a:ext cx="2743200" cy="155448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4320" y="34015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A4262F"/>
                </a:solidFill>
                <a:latin typeface="Calibri"/>
              </a:rPr>
              <a:t>💰 Cost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37947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$5/TB scanned.
Full JSONL re-scan
every query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00400" y="3383280"/>
            <a:ext cx="2743200" cy="155448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200400" y="34015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C55A11"/>
                </a:solidFill>
                <a:latin typeface="Calibri"/>
              </a:rPr>
              <a:t>⏱ Latency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37947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15–60 seconds
p95 per dashboard
query today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3383280"/>
            <a:ext cx="2743200" cy="155448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126480" y="34015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C000"/>
                </a:solidFill>
                <a:latin typeface="Calibri"/>
              </a:rPr>
              <a:t>📈 Scale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37947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&gt;100K rows
documented timeout
(use LIMIT)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3383280"/>
            <a:ext cx="2743200" cy="1554480"/>
          </a:xfrm>
          <a:prstGeom prst="rect">
            <a:avLst/>
          </a:prstGeom>
          <a:solidFill>
            <a:srgbClr val="2A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52560" y="3401568"/>
            <a:ext cx="2743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2E74B5"/>
                </a:solidFill>
                <a:latin typeface="Calibri"/>
              </a:rPr>
              <a:t>🔁 Reuse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52560" y="379476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0">
                <a:solidFill>
                  <a:srgbClr val="FFFFFF"/>
                </a:solidFill>
                <a:latin typeface="Calibri"/>
              </a:rPr>
              <a:t>Zero result reuse
across concurrent
users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5120640"/>
            <a:ext cx="11612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1">
                <a:solidFill>
                  <a:srgbClr val="FFC000"/>
                </a:solidFill>
                <a:latin typeface="Calibri"/>
              </a:rPr>
              <a:t>At 5–10× data growth, this becomes the primary cost and latency bottleneck.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55321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4CCCC"/>
                </a:solidFill>
                <a:latin typeface="Calibri"/>
              </a:rPr>
              <a:t>Documented in codebase: '⚠ Large queries (&gt;100K rows) may timeout — use LIMIT clauses'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9 Improvement Areas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Prioritised by Risk and Business Impact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" y="1188720"/>
            <a:ext cx="3749039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A42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28600" y="1188720"/>
            <a:ext cx="411480" cy="1554480"/>
          </a:xfrm>
          <a:prstGeom prst="rect">
            <a:avLst/>
          </a:prstGeom>
          <a:solidFill>
            <a:srgbClr val="A42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37744" y="1691640"/>
            <a:ext cx="3931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Rectangle 8"/>
          <p:cNvSpPr/>
          <p:nvPr/>
        </p:nvSpPr>
        <p:spPr>
          <a:xfrm>
            <a:off x="3383280" y="1225296"/>
            <a:ext cx="548640" cy="256032"/>
          </a:xfrm>
          <a:prstGeom prst="rect">
            <a:avLst/>
          </a:prstGeom>
          <a:solidFill>
            <a:srgbClr val="A42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22529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2801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4262F"/>
                </a:solidFill>
                <a:latin typeface="Calibri"/>
              </a:rPr>
              <a:t>Materialise Curated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16916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92% virtual → daily Parquet snapshots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206239" y="1188720"/>
            <a:ext cx="3749039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A42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206239" y="1188720"/>
            <a:ext cx="411480" cy="1554480"/>
          </a:xfrm>
          <a:prstGeom prst="rect">
            <a:avLst/>
          </a:prstGeom>
          <a:solidFill>
            <a:srgbClr val="A42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15383" y="1691640"/>
            <a:ext cx="3931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60919" y="1225296"/>
            <a:ext cx="548640" cy="256032"/>
          </a:xfrm>
          <a:prstGeom prst="rect">
            <a:avLst/>
          </a:prstGeom>
          <a:solidFill>
            <a:srgbClr val="A42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360919" y="122529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09159" y="12801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4262F"/>
                </a:solidFill>
                <a:latin typeface="Calibri"/>
              </a:rPr>
              <a:t>DAG-Based Orchestration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09159" y="16916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Sequential bash → Step Functions with gates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83878" y="1188720"/>
            <a:ext cx="3749039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A42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183878" y="1188720"/>
            <a:ext cx="411480" cy="1554480"/>
          </a:xfrm>
          <a:prstGeom prst="rect">
            <a:avLst/>
          </a:prstGeom>
          <a:solidFill>
            <a:srgbClr val="A42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193022" y="1691640"/>
            <a:ext cx="3931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1338558" y="1225296"/>
            <a:ext cx="548640" cy="256032"/>
          </a:xfrm>
          <a:prstGeom prst="rect">
            <a:avLst/>
          </a:prstGeom>
          <a:solidFill>
            <a:srgbClr val="A42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1338558" y="122529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798" y="128016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4262F"/>
                </a:solidFill>
                <a:latin typeface="Calibri"/>
              </a:rPr>
              <a:t>Checkpoint &amp; Recovery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686798" y="169164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File-based → DynamoDB ledger (atomic resume)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28600" y="2926080"/>
            <a:ext cx="3749039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28600" y="2926080"/>
            <a:ext cx="411480" cy="155448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37744" y="3429000"/>
            <a:ext cx="3931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383280" y="2962656"/>
            <a:ext cx="548640" cy="256032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296265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0175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55A11"/>
                </a:solidFill>
                <a:latin typeface="Calibri"/>
              </a:rPr>
              <a:t>Schema Drift Detection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34290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Silent Glue → Contract files + SNS alerts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206239" y="2926080"/>
            <a:ext cx="3749039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4206239" y="2926080"/>
            <a:ext cx="411480" cy="155448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215383" y="3429000"/>
            <a:ext cx="3931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360919" y="2962656"/>
            <a:ext cx="548640" cy="256032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360919" y="296265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09159" y="30175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55A11"/>
                </a:solidFill>
                <a:latin typeface="Calibri"/>
              </a:rPr>
              <a:t>Incremental Loads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709159" y="34290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Full CTAS rebuild → Iceberg MERGE INTO upserts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8183878" y="2926080"/>
            <a:ext cx="3749039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8183878" y="2926080"/>
            <a:ext cx="411480" cy="155448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93022" y="3429000"/>
            <a:ext cx="3931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4" name="Rectangle 43"/>
          <p:cNvSpPr/>
          <p:nvPr/>
        </p:nvSpPr>
        <p:spPr>
          <a:xfrm>
            <a:off x="11338558" y="2962656"/>
            <a:ext cx="548640" cy="256032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11338558" y="296265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686798" y="301752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55A11"/>
                </a:solidFill>
                <a:latin typeface="Calibri"/>
              </a:rPr>
              <a:t>Multi-Tenancy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686798" y="342900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Gaiia-only → All sources tenant-partitioned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28600" y="4663440"/>
            <a:ext cx="3749039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28600" y="4663440"/>
            <a:ext cx="411480" cy="155448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237744" y="5166360"/>
            <a:ext cx="3931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7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383280" y="4700016"/>
            <a:ext cx="548640" cy="256032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3383280" y="470001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4754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55A11"/>
                </a:solidFill>
                <a:latin typeface="Calibri"/>
              </a:rPr>
              <a:t>Data Quality Framework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31520" y="51663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Ad hoc exceptions → dq_run_log + active alerts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206239" y="4663440"/>
            <a:ext cx="3749039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4206239" y="4663440"/>
            <a:ext cx="411480" cy="155448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215383" y="5166360"/>
            <a:ext cx="3931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8</a:t>
            </a:r>
          </a:p>
        </p:txBody>
      </p:sp>
      <p:sp>
        <p:nvSpPr>
          <p:cNvPr id="58" name="Rectangle 57"/>
          <p:cNvSpPr/>
          <p:nvPr/>
        </p:nvSpPr>
        <p:spPr>
          <a:xfrm>
            <a:off x="7360919" y="4700016"/>
            <a:ext cx="548640" cy="256032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360919" y="470001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P1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4709159" y="4754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C55A11"/>
                </a:solidFill>
                <a:latin typeface="Calibri"/>
              </a:rPr>
              <a:t>SSOT Crosswalk / Identity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4709159" y="51663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Direct source IDs → entity_spine + SCD Type 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183878" y="4663440"/>
            <a:ext cx="3749039" cy="155448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8183878" y="4663440"/>
            <a:ext cx="411480" cy="1554480"/>
          </a:xfrm>
          <a:prstGeom prst="rect">
            <a:avLst/>
          </a:prstGeom>
          <a:solidFill>
            <a:srgbClr val="007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8193022" y="5166360"/>
            <a:ext cx="39319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Calibri"/>
              </a:rPr>
              <a:t>9</a:t>
            </a:r>
          </a:p>
        </p:txBody>
      </p:sp>
      <p:sp>
        <p:nvSpPr>
          <p:cNvPr id="65" name="Rectangle 64"/>
          <p:cNvSpPr/>
          <p:nvPr/>
        </p:nvSpPr>
        <p:spPr>
          <a:xfrm>
            <a:off x="11338558" y="4700016"/>
            <a:ext cx="548640" cy="256032"/>
          </a:xfrm>
          <a:prstGeom prst="rect">
            <a:avLst/>
          </a:prstGeom>
          <a:solidFill>
            <a:srgbClr val="007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1338558" y="4700016"/>
            <a:ext cx="5486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Calibri"/>
              </a:rPr>
              <a:t>P2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686798" y="4754880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00707F"/>
                </a:solidFill>
                <a:latin typeface="Calibri"/>
              </a:rPr>
              <a:t>IaC &amp; Observability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8686798" y="5166360"/>
            <a:ext cx="3108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Partial IaC, no cost tracking → 100% IaC + dashboards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Improvement 1: Materialise the Curated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Highest Impact — Immediate Cost &amp; Latency Reduction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143000"/>
            <a:ext cx="5577840" cy="4114800"/>
          </a:xfrm>
          <a:prstGeom prst="rect">
            <a:avLst/>
          </a:prstGeom>
          <a:solidFill>
            <a:srgbClr val="F4CCCC"/>
          </a:solidFill>
          <a:ln w="19050">
            <a:solidFill>
              <a:srgbClr val="A42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070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4262F"/>
                </a:solidFill>
                <a:latin typeface="Calibri"/>
              </a:rPr>
              <a:t>❌  CURRENT STATE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00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4262F"/>
                </a:solidFill>
                <a:latin typeface="Calibri"/>
              </a:rPr>
              <a:t>Every query → raw S3 scan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92024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1010"/>
                </a:solidFill>
                <a:latin typeface="Courier New"/>
              </a:rPr>
              <a:t>Dashboard query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176272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1010"/>
                </a:solidFill>
                <a:latin typeface="Courier New"/>
              </a:rPr>
              <a:t>  → gaiia_subscriptions_current  (VIEW)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432304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1010"/>
                </a:solidFill>
                <a:latin typeface="Courier New"/>
              </a:rPr>
              <a:t>      → billing_subscriptions_current  (VIEW)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688336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4262F"/>
                </a:solidFill>
                <a:latin typeface="Courier New"/>
              </a:rPr>
              <a:t>          → raw JSONL on S3  ← FULL SCAN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94436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1010"/>
                </a:solidFill>
                <a:latin typeface="Courier New"/>
              </a:rPr>
              <a:t>      → products_current  (VIEW)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20040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4262F"/>
                </a:solidFill>
                <a:latin typeface="Courier New"/>
              </a:rPr>
              <a:t>          → raw JSONL on S3  ← FULL SCAN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456432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401010"/>
                </a:solidFill>
                <a:latin typeface="Courier New"/>
              </a:rPr>
              <a:t>              json_parse() + UNNEST + ROW_NUMBER()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712464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4262F"/>
                </a:solidFill>
                <a:latin typeface="Courier New"/>
              </a:rPr>
              <a:t>              Runs every query. 5 users = 5 scans.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" y="4050791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4262F"/>
                </a:solidFill>
                <a:latin typeface="Calibri"/>
              </a:rPr>
              <a:t>  Scan per query:  ~10–50 GB raw JSONL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0040" y="4288536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4262F"/>
                </a:solidFill>
                <a:latin typeface="Calibri"/>
              </a:rPr>
              <a:t>  Cost/query:       $0.05–$0.25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0040" y="452628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4262F"/>
                </a:solidFill>
                <a:latin typeface="Calibri"/>
              </a:rPr>
              <a:t>  Latency p95:      15–60 seconds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" y="4764024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4262F"/>
                </a:solidFill>
                <a:latin typeface="Calibri"/>
              </a:rPr>
              <a:t>  Concurrent users: 2–3 before contention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52160" y="2834640"/>
            <a:ext cx="457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 i="0">
                <a:solidFill>
                  <a:srgbClr val="1A7A40"/>
                </a:solidFill>
                <a:latin typeface="Calibri"/>
              </a:rPr>
              <a:t>→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400800" y="1143000"/>
            <a:ext cx="5577840" cy="4114800"/>
          </a:xfrm>
          <a:prstGeom prst="rect">
            <a:avLst/>
          </a:prstGeom>
          <a:solidFill>
            <a:srgbClr val="C6EFCE"/>
          </a:solidFill>
          <a:ln w="19050">
            <a:solidFill>
              <a:srgbClr val="1A7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37960" y="1207008"/>
            <a:ext cx="5303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7A40"/>
                </a:solidFill>
                <a:latin typeface="Calibri"/>
              </a:rPr>
              <a:t>✅  FUTURE STATE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37960" y="1600200"/>
            <a:ext cx="53035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1A7A40"/>
                </a:solidFill>
                <a:latin typeface="Calibri"/>
              </a:rPr>
              <a:t>Pipeline materialises once → queries read Parquet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537960" y="192024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A3015"/>
                </a:solidFill>
                <a:latin typeface="Courier New"/>
              </a:rPr>
              <a:t>Daily pipeline (runs once at 02:00 UTC):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537960" y="2176272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7A40"/>
                </a:solidFill>
                <a:latin typeface="Courier New"/>
              </a:rPr>
              <a:t>  JSON extract + UNNEST + ROW_NUMBER()  ← ONCE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537960" y="2432304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7A40"/>
                </a:solidFill>
                <a:latin typeface="Courier New"/>
              </a:rPr>
              <a:t>  → Write Parquet snapshot (dt=today)   ← Stored!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2688336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A3015"/>
                </a:solidFill>
                <a:latin typeface="Courier New"/>
              </a:rPr>
              <a:t/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2944368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A3015"/>
                </a:solidFill>
                <a:latin typeface="Courier New"/>
              </a:rPr>
              <a:t>Dashboard query (all day long):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37960" y="320040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A3015"/>
                </a:solidFill>
                <a:latin typeface="Courier New"/>
              </a:rPr>
              <a:t>  gaiia_subscriptions_current  (VIEW)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37960" y="3456432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A3015"/>
                </a:solidFill>
                <a:latin typeface="Courier New"/>
              </a:rPr>
              <a:t>  → SELECT * FROM snapshot WHERE dt=MAX(dt)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37960" y="3712464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1A7A40"/>
                </a:solidFill>
                <a:latin typeface="Courier New"/>
              </a:rPr>
              <a:t>  → Reads ~10 MB Parquet  ← FAST &amp; CHEAP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37960" y="3968496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0A3015"/>
                </a:solidFill>
                <a:latin typeface="Courier New"/>
              </a:rPr>
              <a:t>  5 users share same Parquet cache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537960" y="4050791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7A40"/>
                </a:solidFill>
                <a:latin typeface="Calibri"/>
              </a:rPr>
              <a:t>  Scan per query:  ~10–100 MB Parquet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7960" y="4288536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7A40"/>
                </a:solidFill>
                <a:latin typeface="Calibri"/>
              </a:rPr>
              <a:t>  Cost/query:       &lt;$0.001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537960" y="4526280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7A40"/>
                </a:solidFill>
                <a:latin typeface="Calibri"/>
              </a:rPr>
              <a:t>  Latency p95:      1–3 seconds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537960" y="4764024"/>
            <a:ext cx="530352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7A40"/>
                </a:solidFill>
                <a:latin typeface="Calibri"/>
              </a:rPr>
              <a:t>  Concurrent users: 50+ (shared Parquet)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82880" y="5349240"/>
            <a:ext cx="11795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1F497D"/>
                </a:solidFill>
                <a:latin typeface="Calibri"/>
              </a:rPr>
              <a:t>Also: Enable Athena Query Result Reuse (60-min TTL) — zero code change, immediate benefit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Improvements 2 &amp; 3: Orchestration + Checkpointing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From Sequential Bash to DAG-Driven with Atomic Recovery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143000"/>
            <a:ext cx="5394960" cy="3200400"/>
          </a:xfrm>
          <a:prstGeom prst="rect">
            <a:avLst/>
          </a:prstGeom>
          <a:solidFill>
            <a:srgbClr val="F4CCCC"/>
          </a:solidFill>
          <a:ln w="19050">
            <a:solidFill>
              <a:srgbClr val="A426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1207008"/>
            <a:ext cx="5120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A4262F"/>
                </a:solidFill>
                <a:latin typeface="Calibri"/>
              </a:rPr>
              <a:t>❌  CURRENT — Sequential + Fragile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" y="1600200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1010"/>
                </a:solidFill>
                <a:latin typeface="Courier New"/>
              </a:rPr>
              <a:t>EventBridge (time-based) → Lambda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865376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1010"/>
                </a:solidFill>
                <a:latin typeface="Courier New"/>
              </a:rPr>
              <a:t>  → bash: run Glue crawler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130552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4262F"/>
                </a:solidFill>
                <a:latin typeface="Courier New"/>
              </a:rPr>
              <a:t>  → bash: run CTAS (even if crawler failed!)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395728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1010"/>
                </a:solidFill>
                <a:latin typeface="Courier New"/>
              </a:rPr>
              <a:t>  → bash: write manifest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660904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1010"/>
                </a:solidFill>
                <a:latin typeface="Courier New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2926080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401010"/>
                </a:solidFill>
                <a:latin typeface="Courier New"/>
              </a:rPr>
              <a:t>Checkpointing: plan_index.json on S3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" y="3191256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4262F"/>
                </a:solidFill>
                <a:latin typeface="Courier New"/>
              </a:rPr>
              <a:t>  If file lost → restart from beginning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" y="3456432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4262F"/>
                </a:solidFill>
                <a:latin typeface="Courier New"/>
              </a:rPr>
              <a:t>  Intacct: full restart on any failure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" y="3721608"/>
            <a:ext cx="512064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4262F"/>
                </a:solidFill>
                <a:latin typeface="Courier New"/>
              </a:rPr>
              <a:t>  Rate-limit (429): poll next_allowed_ts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60720" y="1143000"/>
            <a:ext cx="6217920" cy="3200400"/>
          </a:xfrm>
          <a:prstGeom prst="rect">
            <a:avLst/>
          </a:prstGeom>
          <a:solidFill>
            <a:srgbClr val="C6EFCE"/>
          </a:solidFill>
          <a:ln w="19050">
            <a:solidFill>
              <a:srgbClr val="1A7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97880" y="1207008"/>
            <a:ext cx="5943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1A7A40"/>
                </a:solidFill>
                <a:latin typeface="Calibri"/>
              </a:rPr>
              <a:t>✅  FUTURE — DAG + DynamoDB Checkpoints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97880" y="1600200"/>
            <a:ext cx="5943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Courier New"/>
              </a:rPr>
              <a:t>START 02:00 UTC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897880" y="1929384"/>
            <a:ext cx="5943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4B5"/>
                </a:solidFill>
                <a:latin typeface="Courier New"/>
              </a:rPr>
              <a:t>[parallel] Gaiia / Vetro / Platt / Intacct / SF ingest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97880" y="2258568"/>
            <a:ext cx="5943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55A11"/>
                </a:solidFill>
                <a:latin typeface="Courier New"/>
              </a:rPr>
              <a:t>↓ GATE: all partitions exist + freshness OK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897880" y="2587752"/>
            <a:ext cx="5943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2E74B5"/>
                </a:solidFill>
                <a:latin typeface="Courier New"/>
              </a:rPr>
              <a:t>[parallel] Materialise curated Parquet snapshots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897880" y="2916936"/>
            <a:ext cx="5943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C55A11"/>
                </a:solidFill>
                <a:latin typeface="Courier New"/>
              </a:rPr>
              <a:t>↓ GATE: DQ exception_rate &lt; threshold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897880" y="3246120"/>
            <a:ext cx="5943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7A40"/>
                </a:solidFill>
                <a:latin typeface="Courier New"/>
              </a:rPr>
              <a:t>[parallel] SSOT certification queries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897880" y="3575304"/>
            <a:ext cx="5943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7A40"/>
                </a:solidFill>
                <a:latin typeface="Courier New"/>
              </a:rPr>
              <a:t>Write manifest + update ops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897880" y="3904488"/>
            <a:ext cx="5943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Courier New"/>
              </a:rPr>
              <a:t>END — target &lt; 45 minutes total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82880" y="4526280"/>
            <a:ext cx="5394960" cy="1554480"/>
          </a:xfrm>
          <a:prstGeom prst="rect">
            <a:avLst/>
          </a:prstGeom>
          <a:solidFill>
            <a:srgbClr val="FCE4D6"/>
          </a:solidFill>
          <a:ln w="127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20040" y="4572000"/>
            <a:ext cx="512064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C55A11"/>
                </a:solidFill>
                <a:latin typeface="Calibri"/>
              </a:rPr>
              <a:t>❌  plan_index.json  — S3 file-based checkpoint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4892040"/>
            <a:ext cx="51206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File lost = full restart from beginning
429 handling = poll every invocation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760720" y="4526280"/>
            <a:ext cx="6217920" cy="1554480"/>
          </a:xfrm>
          <a:prstGeom prst="rect">
            <a:avLst/>
          </a:prstGeom>
          <a:solidFill>
            <a:srgbClr val="C6EFCE"/>
          </a:solidFill>
          <a:ln w="12700">
            <a:solidFill>
              <a:srgbClr val="1A7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897880" y="4572000"/>
            <a:ext cx="5943600" cy="3017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1A7A40"/>
                </a:solidFill>
                <a:latin typeface="Calibri"/>
              </a:rPr>
              <a:t>✅  DynamoDB Checkpoint Ledger  — atomic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897880" y="4892040"/>
            <a:ext cx="5943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1A1A2E"/>
                </a:solidFill>
                <a:latin typeface="Calibri"/>
              </a:rPr>
              <a:t>Atomic updates — resume from last cursor on restart
429 → SQS delay queue (event-driven, no polling)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0" y="28346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7A40"/>
                </a:solidFill>
                <a:latin typeface="Calibri"/>
              </a:rPr>
              <a:t>→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0" y="489204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1A7A40"/>
                </a:solidFill>
                <a:latin typeface="Calibri"/>
              </a:rPr>
              <a:t>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Improvements 4–7: Schema · DQ · Multi-Tenancy · Iceberg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Four Cross-Cutting Platform Enhancements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143000"/>
            <a:ext cx="58064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143000"/>
            <a:ext cx="5806440" cy="411480"/>
          </a:xfrm>
          <a:prstGeom prst="rect">
            <a:avLst/>
          </a:prstGeom>
          <a:solidFill>
            <a:srgbClr val="007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17957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  4  Schema Drift Detection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645920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4262F"/>
                </a:solidFill>
                <a:latin typeface="Calibri"/>
              </a:rPr>
              <a:t>Current: Glue detects new fields — no alert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1993392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7A40"/>
                </a:solidFill>
                <a:latin typeface="Calibri"/>
              </a:rPr>
              <a:t>Future:  Schema contract files per entity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2340864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         Glue → Lambda → SNS on any change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" y="2688336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         Null-rate probe after every ingest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3035808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         schema_version on all views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72200" y="1143000"/>
            <a:ext cx="58064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72200" y="1143000"/>
            <a:ext cx="5806440" cy="41148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17920" y="117957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  5  Incremental Loads → Iceberg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1645920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4262F"/>
                </a:solidFill>
                <a:latin typeface="Calibri"/>
              </a:rPr>
              <a:t>Current: Full daily CTAS rebuild — entire table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1993392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7A40"/>
                </a:solidFill>
                <a:latin typeface="Calibri"/>
              </a:rPr>
              <a:t>Future:  Apache Iceberg tables in Athena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2340864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         MERGE INTO for upserts (no rebuild)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2688336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         Time-travel queries (audit history)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035808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         Auto-compaction of small files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82880" y="3749040"/>
            <a:ext cx="58064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82880" y="3749040"/>
            <a:ext cx="5806440" cy="411480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228600" y="378561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  6  Full Multi-Tenancy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0040" y="4251960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4262F"/>
                </a:solidFill>
                <a:latin typeface="Calibri"/>
              </a:rPr>
              <a:t>Current: Only Gaiia has tenant= partitions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4599432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7A40"/>
                </a:solidFill>
                <a:latin typeface="Calibri"/>
              </a:rPr>
              <a:t>Future:  ALL sources: tenant/source/entity/dt=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" y="4946904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         tenants.json config → zero code change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20040" y="5294376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         New operator = config entry, not code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20040" y="5641848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         Cross-tenant analytics in one query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72200" y="3749040"/>
            <a:ext cx="5806440" cy="2377440"/>
          </a:xfrm>
          <a:prstGeom prst="rect">
            <a:avLst/>
          </a:prstGeom>
          <a:solidFill>
            <a:srgbClr val="FFFFFF"/>
          </a:solidFill>
          <a:ln w="254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172200" y="3749040"/>
            <a:ext cx="5806440" cy="41148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378561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  7  Data Quality Framework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4251960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4262F"/>
                </a:solidFill>
                <a:latin typeface="Calibri"/>
              </a:rPr>
              <a:t>Current: Exceptions captured — not monitored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4599432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7A40"/>
                </a:solidFill>
                <a:latin typeface="Calibri"/>
              </a:rPr>
              <a:t>Future:  curated_recon.dq_run_log (central)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4946904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         config/dq_thresholds.json (versioned)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5294376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         CloudWatch alarm: exception_rate &gt; X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5641848"/>
            <a:ext cx="55321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1A2E"/>
                </a:solidFill>
                <a:latin typeface="Calibri"/>
              </a:rPr>
              <a:t>         Quarantine prefix for bad-row isolation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Improvements 8 &amp; 9: Identity Spine + IaC &amp; Observability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Structural and Operational Completeness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143000"/>
            <a:ext cx="5669280" cy="4480560"/>
          </a:xfrm>
          <a:prstGeom prst="rect">
            <a:avLst/>
          </a:prstGeom>
          <a:solidFill>
            <a:srgbClr val="FFFFFF"/>
          </a:solidFill>
          <a:ln w="254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143000"/>
            <a:ext cx="5669280" cy="41148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20040" y="1179576"/>
            <a:ext cx="53949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  8  SSOT Entity Spine + SCD Type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" y="1645920"/>
            <a:ext cx="5394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A4262F"/>
                </a:solidFill>
                <a:latin typeface="Calibri"/>
              </a:rPr>
              <a:t>❌  Current: Source IDs used directly — no surrogate key
        SF Account ID, Platt ID, Intacct ID used interchangeably
        SF → Intacct crosswalk is non-1:1 (migrations create M:M)
        Customer changes silently overwrite — no history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" y="2834640"/>
            <a:ext cx="539496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A7A40"/>
                </a:solidFill>
                <a:latin typeface="Calibri"/>
              </a:rPr>
              <a:t>✅  Future: entity_spine Iceberg table
        ssot_entity_id (UUID) — single key for all sources
        sf_id | platt_id | intacct_id | gaiia_id columns
        confidence: high | medium | low | unresolved
        SCD Type 2: valid_from, valid_to, is_current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" y="420624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0" i="0">
                <a:solidFill>
                  <a:srgbClr val="1F497D"/>
                </a:solidFill>
                <a:latin typeface="Calibri"/>
              </a:rPr>
              <a:t>✅  All views JOIN through entity_spine — never directly to source IDs
✅  M:M crosswalk resolved at identity layer — not at query time
✅  Historical customer changes auditable via time-travel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143000"/>
            <a:ext cx="5943600" cy="448056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35040" y="1143000"/>
            <a:ext cx="5943600" cy="411480"/>
          </a:xfrm>
          <a:prstGeom prst="rect">
            <a:avLst/>
          </a:prstGeom>
          <a:solidFill>
            <a:srgbClr val="007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172200" y="1179576"/>
            <a:ext cx="56692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  9  IaC Completeness + Observability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1645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00707F"/>
                </a:solidFill>
                <a:latin typeface="Calibri"/>
              </a:rPr>
              <a:t>Component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63840" y="1645920"/>
            <a:ext cx="16459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4262F"/>
                </a:solidFill>
                <a:latin typeface="Calibri"/>
              </a:rPr>
              <a:t>Current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55480" y="16459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1A7A40"/>
                </a:solidFill>
                <a:latin typeface="Calibri"/>
              </a:rPr>
              <a:t>Future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Glue Crawlers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196596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4262F"/>
                </a:solidFill>
                <a:latin typeface="Calibri"/>
              </a:rPr>
              <a:t>❌ Console 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555480" y="196596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7A40"/>
                </a:solidFill>
                <a:latin typeface="Calibri"/>
              </a:rPr>
              <a:t>✅ CloudFormation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72200" y="23134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AppFlow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863840" y="2313432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4262F"/>
                </a:solidFill>
                <a:latin typeface="Calibri"/>
              </a:rPr>
              <a:t>❌ Console only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55480" y="23134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7A40"/>
                </a:solidFill>
                <a:latin typeface="Calibri"/>
              </a:rPr>
              <a:t>✅ CF ConnectorProfile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72200" y="26609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S3 Lifecycle 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63840" y="2660904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4262F"/>
                </a:solidFill>
                <a:latin typeface="Calibri"/>
              </a:rPr>
              <a:t>❌ Console only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555480" y="2660904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7A40"/>
                </a:solidFill>
                <a:latin typeface="Calibri"/>
              </a:rPr>
              <a:t>✅ IaC — raw→Glacier 90d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172200" y="300837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Athena Workgroups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863840" y="3008376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4262F"/>
                </a:solidFill>
                <a:latin typeface="Calibri"/>
              </a:rPr>
              <a:t>❌ Console only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555480" y="3008376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7A40"/>
                </a:solidFill>
                <a:latin typeface="Calibri"/>
              </a:rPr>
              <a:t>✅ IaC + cost by stage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172200" y="33558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CI/CD Auth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863840" y="3355848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4262F"/>
                </a:solidFill>
                <a:latin typeface="Calibri"/>
              </a:rPr>
              <a:t>❌ Long-lived keys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555480" y="335584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7A40"/>
                </a:solidFill>
                <a:latin typeface="Calibri"/>
              </a:rPr>
              <a:t>✅ OIDC short-lived STS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172200" y="3703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Frontend Deploy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63840" y="3703320"/>
            <a:ext cx="1645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4262F"/>
                </a:solidFill>
                <a:latin typeface="Calibri"/>
              </a:rPr>
              <a:t>❌ Manual upload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55480" y="37033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7A40"/>
                </a:solidFill>
                <a:latin typeface="Calibri"/>
              </a:rPr>
              <a:t>✅ GitHub → Amplify auto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172200" y="4206240"/>
            <a:ext cx="5669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707F"/>
                </a:solidFill>
                <a:latin typeface="Calibri"/>
              </a:rPr>
              <a:t>Observability Additions: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172200" y="452628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• CloudWatch Alarm: max_dt age &gt; 26h per source (freshness SLA)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172200" y="480060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• Alarm: exception_rate &gt; threshold → SNS / PagerDuty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72200" y="507492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• Athena cost by workgroup: raw | curated | ssot stages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172200" y="5349240"/>
            <a:ext cx="56692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• Pipeline P95 duration metric + 2× baseline alarm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Future State: Full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Materialised Medallion with DAG, Iceberg &amp; Tenant Partitioning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" y="1143000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E5E5E5"/>
                </a:solidFill>
                <a:latin typeface="Calibri"/>
              </a:rPr>
              <a:t>DATA SOURCES</a:t>
            </a:r>
          </a:p>
        </p:txBody>
      </p:sp>
      <p:sp>
        <p:nvSpPr>
          <p:cNvPr id="7" name="Rectangle 6"/>
          <p:cNvSpPr/>
          <p:nvPr/>
        </p:nvSpPr>
        <p:spPr>
          <a:xfrm>
            <a:off x="228600" y="1463040"/>
            <a:ext cx="2194560" cy="59436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" y="146304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Gaiia
GraphQL</a:t>
            </a:r>
          </a:p>
        </p:txBody>
      </p:sp>
      <p:sp>
        <p:nvSpPr>
          <p:cNvPr id="9" name="Rectangle 8"/>
          <p:cNvSpPr/>
          <p:nvPr/>
        </p:nvSpPr>
        <p:spPr>
          <a:xfrm>
            <a:off x="2606040" y="1463040"/>
            <a:ext cx="2194560" cy="594360"/>
          </a:xfrm>
          <a:prstGeom prst="rect">
            <a:avLst/>
          </a:prstGeom>
          <a:solidFill>
            <a:srgbClr val="007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06040" y="146304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VETRO
REST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983480" y="1463040"/>
            <a:ext cx="2194560" cy="594360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83480" y="146304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Platt
CSV→Parquet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360920" y="1463040"/>
            <a:ext cx="2194560" cy="59436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60920" y="146304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Intacct
SOAP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38360" y="1463040"/>
            <a:ext cx="2194560" cy="5943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738360" y="1463040"/>
            <a:ext cx="21945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Salesforce
AppFlow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28600" y="2148840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FFC000"/>
                </a:solidFill>
                <a:latin typeface="Calibri"/>
              </a:rPr>
              <a:t>⬇  Step Functions DAG — parallel ingest with dependency gates  ⬇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487168"/>
            <a:ext cx="11795760" cy="777240"/>
          </a:xfrm>
          <a:prstGeom prst="rect">
            <a:avLst/>
          </a:prstGeom>
          <a:solidFill>
            <a:srgbClr val="1A2A4A"/>
          </a:solidFill>
          <a:ln w="12700">
            <a:solidFill>
              <a:srgbClr val="2E74B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" y="2542032"/>
            <a:ext cx="11521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DD7EE"/>
                </a:solidFill>
                <a:latin typeface="Calibri"/>
              </a:rPr>
              <a:t>RAW LAYER  —  tenant/source/entity/dt=YYYY-MM-DD/  |  NDJSON.GZ standard  |  Partition projection enabled  |  Immutable append-only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8600" y="3337560"/>
            <a:ext cx="1170432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C6EFCE"/>
                </a:solidFill>
                <a:latin typeface="Calibri"/>
              </a:rPr>
              <a:t>⬇  Materialisation step: JSON extract + UNNEST + ROW_NUMBER() runs ONCE daily  ⬇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2880" y="3657600"/>
            <a:ext cx="11795760" cy="868680"/>
          </a:xfrm>
          <a:prstGeom prst="rect">
            <a:avLst/>
          </a:prstGeom>
          <a:solidFill>
            <a:srgbClr val="0A2A1A"/>
          </a:solidFill>
          <a:ln w="19050">
            <a:solidFill>
              <a:srgbClr val="1A7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20040" y="3721608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6EFCE"/>
                </a:solidFill>
                <a:latin typeface="Calibri"/>
              </a:rPr>
              <a:t>CURATED LAYER  —  Parquet snapshots (ZSTD, 128–256 MB)  |  tenant/entity/dt=  |  Thin views on top  |  Athena Query Result Reuse (60-min TTL)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28600" y="4590288"/>
            <a:ext cx="11704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0" i="1">
                <a:solidFill>
                  <a:srgbClr val="FFC000"/>
                </a:solidFill>
                <a:latin typeface="Calibri"/>
              </a:rPr>
              <a:t>⬇  DQ gate: exception_rate checked via dq_run_log  ⬇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4873752"/>
            <a:ext cx="11795760" cy="777240"/>
          </a:xfrm>
          <a:prstGeom prst="rect">
            <a:avLst/>
          </a:prstGeom>
          <a:solidFill>
            <a:srgbClr val="0A1A3A"/>
          </a:solidFill>
          <a:ln w="19050"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20040" y="4919472"/>
            <a:ext cx="1152144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C000"/>
                </a:solidFill>
                <a:latin typeface="Calibri"/>
              </a:rPr>
              <a:t>SSOT LAYER  —  Apache Iceberg tables (MERGE INTO, time-travel, auto-compaction)  |  entity_spine (SCD Type 2)  |  SSOT certification with QID proof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" y="5760720"/>
            <a:ext cx="117043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606060"/>
                </a:solidFill>
                <a:latin typeface="Calibri"/>
              </a:rPr>
              <a:t>DynamoDB Checkpoints  |  Schema Contract Files  |  CloudWatch Alarms (freshness + DQ + DLQ)  |  Athena cost by workgroup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Implementation Roadmap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4 Phases — Quick Wins to Full Transformation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143000"/>
            <a:ext cx="2834640" cy="5303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A7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82880" y="1143000"/>
            <a:ext cx="2834640" cy="914400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1887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Phase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160020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Week 1
Quick Wins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92608" y="2148840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• Enable Athena Query Result Reuse — 30 min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" y="2816352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• CloudWatch Alarm on Vetro SQS DLQ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" y="3483864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• Externalise DQ thresholds to JSON config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" y="4151376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• Add WHERE dt=MAX(dt) guard to *_current views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92608" y="4818888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• Standardise partition key (dt everywhere)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" y="5486400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• Add tenant column to all curated views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172968" y="1143000"/>
            <a:ext cx="2834640" cy="5303520"/>
          </a:xfrm>
          <a:prstGeom prst="rect">
            <a:avLst/>
          </a:prstGeom>
          <a:solidFill>
            <a:srgbClr val="FFFFFF"/>
          </a:solidFill>
          <a:ln w="25400">
            <a:solidFill>
              <a:srgbClr val="C55A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172968" y="1143000"/>
            <a:ext cx="2834640" cy="91440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264408" y="11887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Phase 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4408" y="160020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Weeks 2–4
Materialization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82696" y="2148840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• Materialise top 5 curated entities as daily Parquet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82696" y="2816352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• DynamoDB checkpoint ledger (replace plan_index.json)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82696" y="3483864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• Create dq_run_log table + populate daily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282696" y="4151376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• CloudWatch Alarm: max_dt age &gt; 26h per source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82696" y="4818888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• Schema contract files for Gaiia + Vetro entities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282696" y="5486400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• Codify Glue crawlers in CloudFormation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63056" y="1143000"/>
            <a:ext cx="2834640" cy="5303520"/>
          </a:xfrm>
          <a:prstGeom prst="rect">
            <a:avLst/>
          </a:prstGeom>
          <a:solidFill>
            <a:srgbClr val="FFFFFF"/>
          </a:solidFill>
          <a:ln w="25400">
            <a:solidFill>
              <a:srgbClr val="0070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163056" y="1143000"/>
            <a:ext cx="2834640" cy="914400"/>
          </a:xfrm>
          <a:prstGeom prst="rect">
            <a:avLst/>
          </a:prstGeom>
          <a:solidFill>
            <a:srgbClr val="007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254496" y="11887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Phase 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54496" y="160020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Month 2
Iceberg &amp; DAG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72784" y="2148840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• Migrate high-churn entities to Apache Iceberg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72784" y="2816352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• Build Step Functions DAG (replaces sequential bash)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72784" y="3483864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• entity_spine surrogate key table (Iceberg)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72784" y="4151376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• SCD Type 2 for customer/account history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72784" y="4818888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• Athena Workgroups by stage + cost dashboards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272784" y="5486400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• OIDC GitHub→AWS auth in CI pipeline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153144" y="1143000"/>
            <a:ext cx="2834640" cy="5303520"/>
          </a:xfrm>
          <a:prstGeom prst="rect">
            <a:avLst/>
          </a:prstGeom>
          <a:solidFill>
            <a:srgbClr val="FFFFFF"/>
          </a:solidFill>
          <a:ln w="25400">
            <a:solidFill>
              <a:srgbClr val="1F497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153144" y="1143000"/>
            <a:ext cx="2834640" cy="9144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44584" y="118872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Calibri"/>
              </a:rPr>
              <a:t>Phase 3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244584" y="1600200"/>
            <a:ext cx="265176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FFFF"/>
                </a:solidFill>
                <a:latin typeface="Calibri"/>
              </a:rPr>
              <a:t>Month 3+
Multi-Tenant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262872" y="2148840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• Unified S3 layout: tenant/source/entity/dt= (all sources)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62872" y="2816352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• Parameterise Lambda/Glue with tenant_id from config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262872" y="3483864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• Data freshness + DQ dashboards in CloudWatch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262872" y="4151376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• dbt tests or Great Expectations on curated tables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262872" y="4818888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• AppFlow → IaC (CF ConnectorProfile)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262872" y="5486400"/>
            <a:ext cx="26334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1A2E"/>
                </a:solidFill>
                <a:latin typeface="Calibri"/>
              </a:rPr>
              <a:t>• Amplify + GitHub CI/CD auto-deploy on merge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182880" y="6492240"/>
            <a:ext cx="11795760" cy="182880"/>
          </a:xfrm>
          <a:prstGeom prst="rect">
            <a:avLst/>
          </a:prstGeom>
          <a:solidFill>
            <a:srgbClr val="E5E5E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182880" y="6492240"/>
            <a:ext cx="2834640" cy="182880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3172968" y="6492240"/>
            <a:ext cx="2834640" cy="182880"/>
          </a:xfrm>
          <a:prstGeom prst="rect">
            <a:avLst/>
          </a:prstGeom>
          <a:solidFill>
            <a:srgbClr val="C55A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6163056" y="6492240"/>
            <a:ext cx="2834640" cy="182880"/>
          </a:xfrm>
          <a:prstGeom prst="rect">
            <a:avLst/>
          </a:prstGeom>
          <a:solidFill>
            <a:srgbClr val="007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9153144" y="6492240"/>
            <a:ext cx="2834640" cy="18288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Before &amp; After: Architecture Scorecard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Side-by-Side Comparison of All 9 Improvement Areas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143000"/>
            <a:ext cx="2286000" cy="36576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14600" y="1143000"/>
            <a:ext cx="4389120" cy="365760"/>
          </a:xfrm>
          <a:prstGeom prst="rect">
            <a:avLst/>
          </a:prstGeom>
          <a:solidFill>
            <a:srgbClr val="A4262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949440" y="1143000"/>
            <a:ext cx="5029200" cy="365760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82880" y="114300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Domain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14600" y="1143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❌  Current State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949440" y="11430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Calibri"/>
              </a:rPr>
              <a:t>✅  Future State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" y="1554480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514600" y="1554480"/>
            <a:ext cx="4389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949440" y="1554480"/>
            <a:ext cx="5029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28600" y="162763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Calibri"/>
              </a:rPr>
              <a:t>Curated Layer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1609344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4262F"/>
                </a:solidFill>
                <a:latin typeface="Calibri"/>
              </a:rPr>
              <a:t>92% virtual views — raw scan per query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95160" y="160934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7A40"/>
                </a:solidFill>
                <a:latin typeface="Calibri"/>
              </a:rPr>
              <a:t>Daily Parquet snapshots + Iceberg for SSOT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82880" y="2066544"/>
            <a:ext cx="228600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514600" y="2066544"/>
            <a:ext cx="438912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949440" y="2066544"/>
            <a:ext cx="502920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28600" y="213969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Calibri"/>
              </a:rPr>
              <a:t>Orchestration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2121408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4262F"/>
                </a:solidFill>
                <a:latin typeface="Calibri"/>
              </a:rPr>
              <a:t>Sequential bash + EventBridge time-based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212140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7A40"/>
                </a:solidFill>
                <a:latin typeface="Calibri"/>
              </a:rPr>
              <a:t>Step Functions DAG with dependency gates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82880" y="2578608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514600" y="2578608"/>
            <a:ext cx="4389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949440" y="2578608"/>
            <a:ext cx="5029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28600" y="265176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Calibri"/>
              </a:rPr>
              <a:t>Checkpointing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2633472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4262F"/>
                </a:solidFill>
                <a:latin typeface="Calibri"/>
              </a:rPr>
              <a:t>S3 file (plan_index.json) — full restart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95160" y="263347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7A40"/>
                </a:solidFill>
                <a:latin typeface="Calibri"/>
              </a:rPr>
              <a:t>DynamoDB ledger — atomic, cursor-based resume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82880" y="3090672"/>
            <a:ext cx="228600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514600" y="3090672"/>
            <a:ext cx="438912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6949440" y="3090672"/>
            <a:ext cx="502920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228600" y="316382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Calibri"/>
              </a:rPr>
              <a:t>Schema Mgmt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560320" y="3145536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4262F"/>
                </a:solidFill>
                <a:latin typeface="Calibri"/>
              </a:rPr>
              <a:t>Glue detects drift — no alert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95160" y="314553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7A40"/>
                </a:solidFill>
                <a:latin typeface="Calibri"/>
              </a:rPr>
              <a:t>Contract files + Lambda → SNS on drift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82880" y="3602736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2514600" y="3602736"/>
            <a:ext cx="4389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949440" y="3602736"/>
            <a:ext cx="5029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28600" y="3675888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Calibri"/>
              </a:rPr>
              <a:t>Incremental Loads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0320" y="3657600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4262F"/>
                </a:solidFill>
                <a:latin typeface="Calibri"/>
              </a:rPr>
              <a:t>Full daily CTAS rebuild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995160" y="36576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7A40"/>
                </a:solidFill>
                <a:latin typeface="Calibri"/>
              </a:rPr>
              <a:t>Iceberg MERGE INTO — upserts only</a:t>
            </a:r>
          </a:p>
        </p:txBody>
      </p:sp>
      <p:sp>
        <p:nvSpPr>
          <p:cNvPr id="42" name="Rectangle 41"/>
          <p:cNvSpPr/>
          <p:nvPr/>
        </p:nvSpPr>
        <p:spPr>
          <a:xfrm>
            <a:off x="182880" y="4114800"/>
            <a:ext cx="228600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2514600" y="4114800"/>
            <a:ext cx="438912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6949440" y="4114800"/>
            <a:ext cx="502920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228600" y="4187952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Calibri"/>
              </a:rPr>
              <a:t>Multi-Tenancy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2560320" y="4169664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4262F"/>
                </a:solidFill>
                <a:latin typeface="Calibri"/>
              </a:rPr>
              <a:t>Gaiia only (tenant= partition)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995160" y="4169664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7A40"/>
                </a:solidFill>
                <a:latin typeface="Calibri"/>
              </a:rPr>
              <a:t>All sources tenant/source/entity/dt=</a:t>
            </a:r>
          </a:p>
        </p:txBody>
      </p:sp>
      <p:sp>
        <p:nvSpPr>
          <p:cNvPr id="48" name="Rectangle 47"/>
          <p:cNvSpPr/>
          <p:nvPr/>
        </p:nvSpPr>
        <p:spPr>
          <a:xfrm>
            <a:off x="182880" y="4626864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2514600" y="4626864"/>
            <a:ext cx="4389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6949440" y="4626864"/>
            <a:ext cx="5029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228600" y="4700016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Calibri"/>
              </a:rPr>
              <a:t>Data Quality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2560320" y="4681728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4262F"/>
                </a:solidFill>
                <a:latin typeface="Calibri"/>
              </a:rPr>
              <a:t>Exceptions captured — not alarmed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995160" y="4681728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7A40"/>
                </a:solidFill>
                <a:latin typeface="Calibri"/>
              </a:rPr>
              <a:t>dq_run_log + CloudWatch alarms + quarantine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82880" y="5138928"/>
            <a:ext cx="228600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2514600" y="5138928"/>
            <a:ext cx="438912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6949440" y="5138928"/>
            <a:ext cx="5029200" cy="475488"/>
          </a:xfrm>
          <a:prstGeom prst="rect">
            <a:avLst/>
          </a:prstGeom>
          <a:solidFill>
            <a:srgbClr val="F5F7FA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28600" y="521208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Calibri"/>
              </a:rPr>
              <a:t>SSOT Identity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2560320" y="5193792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4262F"/>
                </a:solidFill>
                <a:latin typeface="Calibri"/>
              </a:rPr>
              <a:t>Source IDs directly — non-1:1 xwalk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995160" y="5193792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7A40"/>
                </a:solidFill>
                <a:latin typeface="Calibri"/>
              </a:rPr>
              <a:t>entity_spine UUID + SCD Type 2</a:t>
            </a:r>
          </a:p>
        </p:txBody>
      </p:sp>
      <p:sp>
        <p:nvSpPr>
          <p:cNvPr id="60" name="Rectangle 59"/>
          <p:cNvSpPr/>
          <p:nvPr/>
        </p:nvSpPr>
        <p:spPr>
          <a:xfrm>
            <a:off x="182880" y="5650992"/>
            <a:ext cx="22860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2514600" y="5650992"/>
            <a:ext cx="438912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6949440" y="5650992"/>
            <a:ext cx="5029200" cy="475488"/>
          </a:xfrm>
          <a:prstGeom prst="rect">
            <a:avLst/>
          </a:prstGeom>
          <a:solidFill>
            <a:srgbClr val="FFFFFF"/>
          </a:solidFill>
          <a:ln w="6350">
            <a:solidFill>
              <a:srgbClr val="E5E5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228600" y="5724144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1F497D"/>
                </a:solidFill>
                <a:latin typeface="Calibri"/>
              </a:rPr>
              <a:t>IaC &amp; Observability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2560320" y="5705856"/>
            <a:ext cx="4297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A4262F"/>
                </a:solidFill>
                <a:latin typeface="Calibri"/>
              </a:rPr>
              <a:t>Partial IaC, no cost tracking, no alarms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995160" y="5705856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1A7A40"/>
                </a:solidFill>
                <a:latin typeface="Calibri"/>
              </a:rPr>
              <a:t>100% IaC + freshness/cost/DQ dashboards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A1A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2E74B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Expected Impact: Key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5943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BDD7EE"/>
                </a:solidFill>
                <a:latin typeface="Calibri"/>
              </a:rPr>
              <a:t>Before vs After Materialisation + DAG + Iceberg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" y="1143000"/>
            <a:ext cx="2834640" cy="2286000"/>
          </a:xfrm>
          <a:prstGeom prst="rect">
            <a:avLst/>
          </a:prstGeom>
          <a:solidFill>
            <a:srgbClr val="1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74320" y="12344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40"/>
                </a:solidFill>
                <a:latin typeface="Calibri"/>
              </a:rPr>
              <a:t>Athena Scan
per Query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180136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6060"/>
                </a:solidFill>
                <a:latin typeface="Calibri"/>
              </a:rP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0116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4CCCC"/>
                </a:solidFill>
                <a:latin typeface="Calibri"/>
              </a:rPr>
              <a:t>~10–50 GB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240487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6060"/>
                </a:solidFill>
                <a:latin typeface="Calibri"/>
              </a:rPr>
              <a:t>After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" y="26060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6EFCE"/>
                </a:solidFill>
                <a:latin typeface="Calibri"/>
              </a:rPr>
              <a:t>~10–100 MB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017519"/>
            <a:ext cx="2286000" cy="274320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301751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  <a:latin typeface="Calibri"/>
              </a:rPr>
              <a:t>500× reduction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72968" y="1143000"/>
            <a:ext cx="2834640" cy="2286000"/>
          </a:xfrm>
          <a:prstGeom prst="rect">
            <a:avLst/>
          </a:prstGeom>
          <a:solidFill>
            <a:srgbClr val="1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64408" y="12344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40"/>
                </a:solidFill>
                <a:latin typeface="Calibri"/>
              </a:rPr>
              <a:t>Query Cost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64408" y="180136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6060"/>
                </a:solidFill>
                <a:latin typeface="Calibri"/>
              </a:rPr>
              <a:t>Before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64408" y="20116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4CCCC"/>
                </a:solidFill>
                <a:latin typeface="Calibri"/>
              </a:rPr>
              <a:t>$0.05–$0.25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264408" y="240487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6060"/>
                </a:solidFill>
                <a:latin typeface="Calibri"/>
              </a:rPr>
              <a:t>After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264408" y="26060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6EFCE"/>
                </a:solidFill>
                <a:latin typeface="Calibri"/>
              </a:rPr>
              <a:t>&lt;$0.001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447288" y="3017519"/>
            <a:ext cx="2286000" cy="274320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447288" y="301751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  <a:latin typeface="Calibri"/>
              </a:rPr>
              <a:t>50–250× cheaper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63056" y="1143000"/>
            <a:ext cx="2834640" cy="2286000"/>
          </a:xfrm>
          <a:prstGeom prst="rect">
            <a:avLst/>
          </a:prstGeom>
          <a:solidFill>
            <a:srgbClr val="1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54496" y="12344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40"/>
                </a:solidFill>
                <a:latin typeface="Calibri"/>
              </a:rPr>
              <a:t>Dashboard
Latency (p95)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54496" y="180136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6060"/>
                </a:solidFill>
                <a:latin typeface="Calibri"/>
              </a:rPr>
              <a:t>Before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254496" y="20116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4CCCC"/>
                </a:solidFill>
                <a:latin typeface="Calibri"/>
              </a:rPr>
              <a:t>15–60 sec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54496" y="240487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6060"/>
                </a:solidFill>
                <a:latin typeface="Calibri"/>
              </a:rPr>
              <a:t>After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54496" y="26060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6EFCE"/>
                </a:solidFill>
                <a:latin typeface="Calibri"/>
              </a:rPr>
              <a:t>1–3 sec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37376" y="3017519"/>
            <a:ext cx="2286000" cy="274320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37376" y="301751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  <a:latin typeface="Calibri"/>
              </a:rPr>
              <a:t>20× faster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9153144" y="1143000"/>
            <a:ext cx="2834640" cy="2286000"/>
          </a:xfrm>
          <a:prstGeom prst="rect">
            <a:avLst/>
          </a:prstGeom>
          <a:solidFill>
            <a:srgbClr val="1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244584" y="123444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1A7A40"/>
                </a:solidFill>
                <a:latin typeface="Calibri"/>
              </a:rPr>
              <a:t>Concurrent
Users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244584" y="180136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6060"/>
                </a:solidFill>
                <a:latin typeface="Calibri"/>
              </a:rPr>
              <a:t>Before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44584" y="201168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4CCCC"/>
                </a:solidFill>
                <a:latin typeface="Calibri"/>
              </a:rPr>
              <a:t>2–3 (contention)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44584" y="240487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6060"/>
                </a:solidFill>
                <a:latin typeface="Calibri"/>
              </a:rPr>
              <a:t>After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44584" y="260604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6EFCE"/>
                </a:solidFill>
                <a:latin typeface="Calibri"/>
              </a:rPr>
              <a:t>50+ (shared Parquet)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9427464" y="3017519"/>
            <a:ext cx="2286000" cy="274320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27464" y="301751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  <a:latin typeface="Calibri"/>
              </a:rPr>
              <a:t>20× more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82880" y="3611880"/>
            <a:ext cx="2834640" cy="2286000"/>
          </a:xfrm>
          <a:prstGeom prst="rect">
            <a:avLst/>
          </a:prstGeom>
          <a:solidFill>
            <a:srgbClr val="1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274320" y="37033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000"/>
                </a:solidFill>
                <a:latin typeface="Calibri"/>
              </a:rPr>
              <a:t>JSON Parsing
Overhead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74320" y="427024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6060"/>
                </a:solidFill>
                <a:latin typeface="Calibri"/>
              </a:rPr>
              <a:t>Before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74320" y="44805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4CCCC"/>
                </a:solidFill>
                <a:latin typeface="Calibri"/>
              </a:rPr>
              <a:t>Every query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4320" y="487375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6060"/>
                </a:solidFill>
                <a:latin typeface="Calibri"/>
              </a:rPr>
              <a:t>After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74320" y="50749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6EFCE"/>
                </a:solidFill>
                <a:latin typeface="Calibri"/>
              </a:rPr>
              <a:t>Once per day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57200" y="5486399"/>
            <a:ext cx="2286000" cy="2743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48639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  <a:latin typeface="Calibri"/>
              </a:rPr>
              <a:t>Full elimination</a:t>
            </a:r>
          </a:p>
        </p:txBody>
      </p:sp>
      <p:sp>
        <p:nvSpPr>
          <p:cNvPr id="46" name="Rectangle 45"/>
          <p:cNvSpPr/>
          <p:nvPr/>
        </p:nvSpPr>
        <p:spPr>
          <a:xfrm>
            <a:off x="3172968" y="3611880"/>
            <a:ext cx="2834640" cy="2286000"/>
          </a:xfrm>
          <a:prstGeom prst="rect">
            <a:avLst/>
          </a:prstGeom>
          <a:solidFill>
            <a:srgbClr val="1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3264408" y="37033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000"/>
                </a:solidFill>
                <a:latin typeface="Calibri"/>
              </a:rPr>
              <a:t>Pipeline
Recovery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264408" y="427024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6060"/>
                </a:solidFill>
                <a:latin typeface="Calibri"/>
              </a:rPr>
              <a:t>Before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3264408" y="44805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4CCCC"/>
                </a:solidFill>
                <a:latin typeface="Calibri"/>
              </a:rPr>
              <a:t>Full restart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264408" y="487375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6060"/>
                </a:solidFill>
                <a:latin typeface="Calibri"/>
              </a:rPr>
              <a:t>After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64408" y="50749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6EFCE"/>
                </a:solidFill>
                <a:latin typeface="Calibri"/>
              </a:rPr>
              <a:t>Resume from cursor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3447288" y="5486399"/>
            <a:ext cx="2286000" cy="2743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3447288" y="548639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  <a:latin typeface="Calibri"/>
              </a:rPr>
              <a:t>Zero data loss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163056" y="3611880"/>
            <a:ext cx="2834640" cy="2286000"/>
          </a:xfrm>
          <a:prstGeom prst="rect">
            <a:avLst/>
          </a:prstGeom>
          <a:solidFill>
            <a:srgbClr val="1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254496" y="37033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000"/>
                </a:solidFill>
                <a:latin typeface="Calibri"/>
              </a:rPr>
              <a:t>Schema
Breaking Changes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254496" y="427024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6060"/>
                </a:solidFill>
                <a:latin typeface="Calibri"/>
              </a:rPr>
              <a:t>Before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254496" y="44805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4CCCC"/>
                </a:solidFill>
                <a:latin typeface="Calibri"/>
              </a:rPr>
              <a:t>Silent failure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254496" y="487375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6060"/>
                </a:solidFill>
                <a:latin typeface="Calibri"/>
              </a:rPr>
              <a:t>After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6254496" y="50749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6EFCE"/>
                </a:solidFill>
                <a:latin typeface="Calibri"/>
              </a:rPr>
              <a:t>SNS alert</a:t>
            </a:r>
          </a:p>
        </p:txBody>
      </p:sp>
      <p:sp>
        <p:nvSpPr>
          <p:cNvPr id="60" name="Rectangle 59"/>
          <p:cNvSpPr/>
          <p:nvPr/>
        </p:nvSpPr>
        <p:spPr>
          <a:xfrm>
            <a:off x="6437376" y="5486399"/>
            <a:ext cx="2286000" cy="27432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37376" y="548639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  <a:latin typeface="Calibri"/>
              </a:rPr>
              <a:t>Immediate detect</a:t>
            </a:r>
          </a:p>
        </p:txBody>
      </p:sp>
      <p:sp>
        <p:nvSpPr>
          <p:cNvPr id="62" name="Rectangle 61"/>
          <p:cNvSpPr/>
          <p:nvPr/>
        </p:nvSpPr>
        <p:spPr>
          <a:xfrm>
            <a:off x="9153144" y="3611880"/>
            <a:ext cx="2834640" cy="2286000"/>
          </a:xfrm>
          <a:prstGeom prst="rect">
            <a:avLst/>
          </a:prstGeom>
          <a:solidFill>
            <a:srgbClr val="1E1E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9244584" y="3703320"/>
            <a:ext cx="2651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707F"/>
                </a:solidFill>
                <a:latin typeface="Calibri"/>
              </a:rPr>
              <a:t>IaC Coverage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244584" y="4270248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6060"/>
                </a:solidFill>
                <a:latin typeface="Calibri"/>
              </a:rPr>
              <a:t>Before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9244584" y="448056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4CCCC"/>
                </a:solidFill>
                <a:latin typeface="Calibri"/>
              </a:rPr>
              <a:t>~60%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44584" y="4873752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606060"/>
                </a:solidFill>
                <a:latin typeface="Calibri"/>
              </a:rPr>
              <a:t>After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44584" y="5074920"/>
            <a:ext cx="2651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C6EFCE"/>
                </a:solidFill>
                <a:latin typeface="Calibri"/>
              </a:rPr>
              <a:t>100%</a:t>
            </a:r>
          </a:p>
        </p:txBody>
      </p:sp>
      <p:sp>
        <p:nvSpPr>
          <p:cNvPr id="68" name="Rectangle 67"/>
          <p:cNvSpPr/>
          <p:nvPr/>
        </p:nvSpPr>
        <p:spPr>
          <a:xfrm>
            <a:off x="9427464" y="5486399"/>
            <a:ext cx="2286000" cy="274320"/>
          </a:xfrm>
          <a:prstGeom prst="rect">
            <a:avLst/>
          </a:prstGeom>
          <a:solidFill>
            <a:srgbClr val="0070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9427464" y="5486399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1" i="0">
                <a:solidFill>
                  <a:srgbClr val="1A1A2E"/>
                </a:solidFill>
                <a:latin typeface="Calibri"/>
              </a:rPr>
              <a:t>Full auditability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9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57200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Calibri"/>
              </a:rPr>
              <a:t>Next Steps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417320"/>
            <a:ext cx="3657600" cy="411480"/>
          </a:xfrm>
          <a:prstGeom prst="rect">
            <a:avLst/>
          </a:prstGeom>
          <a:solidFill>
            <a:srgbClr val="1A7A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1417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This Week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92024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Enable Athena Query Result Reuse on dashboard workgroup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51460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Add CloudWatch Alarm on Vetro SQS DLQ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10896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Externalise DQ thresholds to config/dq_thresholds.json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70247" y="1417320"/>
            <a:ext cx="3657600" cy="41148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70247" y="1417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Weeks 2–4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7" y="192024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Materialise top 5 curated entities as Parquet snapshots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61687" y="251460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Deploy DynamoDB checkpoint ledger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61687" y="310896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Create dq_run_log and wire to CloudWatch alarms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174734" y="1417320"/>
            <a:ext cx="3657600" cy="411480"/>
          </a:xfrm>
          <a:prstGeom prst="rect">
            <a:avLst/>
          </a:prstGeom>
          <a:solidFill>
            <a:srgbClr val="BDD7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74734" y="141732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1A1A2E"/>
                </a:solidFill>
                <a:latin typeface="Calibri"/>
              </a:rPr>
              <a:t>Month 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66174" y="192024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Migrate to Apache Iceberg for SSOT tables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66174" y="251460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Build Step Functions DAG replacing sequential bash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66174" y="3108960"/>
            <a:ext cx="34747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▸  Deploy entity_spine with SCD Type 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4297680"/>
            <a:ext cx="11064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6EFCE"/>
                </a:solidFill>
                <a:latin typeface="Calibri"/>
              </a:rPr>
              <a:t>The architecture is well-designed. These improvements secure its scalability for 5–10× growth.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0">
                <a:solidFill>
                  <a:srgbClr val="8090A0"/>
                </a:solidFill>
                <a:latin typeface="Calibri"/>
              </a:rPr>
              <a:t>OnPoint Insights LLC  ·  Lake Deploy Platform  ·  2026-02-20  · 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